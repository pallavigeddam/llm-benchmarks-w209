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326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3262"/>
                </a:solidFill>
                <a:latin typeface="Arial"/>
              </a:rPr>
              <a:t>Mean MMLU Score by Year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MMLU %</c:v>
                </c:pt>
              </c:strCache>
            </c:strRef>
          </c:tx>
          <c:spPr>
            <a:ln w="38100" cap="flat">
              <a:solidFill>
                <a:srgbClr val="00326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3262"/>
              </a:solidFill>
              <a:ln w="9525" cap="flat">
                <a:solidFill>
                  <a:srgbClr val="00326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326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33.200000000000003</c:v>
                </c:pt>
                <c:pt idx="1">
                  <c:v>48.5</c:v>
                </c:pt>
                <c:pt idx="2">
                  <c:v>44.8</c:v>
                </c:pt>
                <c:pt idx="3">
                  <c:v>70.7</c:v>
                </c:pt>
                <c:pt idx="4">
                  <c:v>82.1</c:v>
                </c:pt>
                <c:pt idx="5">
                  <c:v>86.4</c:v>
                </c:pt>
                <c:pt idx="6">
                  <c:v>93.2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B1-FF44-94BF-FFC39D8A72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3262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3262"/>
                </a:solidFill>
                <a:latin typeface="Arial"/>
              </a:rPr>
              <a:t>Pearson Correlation with Cost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01-B04D-B43A-84ECD69FE221}"/>
              </c:ext>
            </c:extLst>
          </c:dPt>
          <c:dPt>
            <c:idx val="1"/>
            <c:invertIfNegative val="0"/>
            <c:bubble3D val="0"/>
            <c:spPr>
              <a:solidFill>
                <a:srgbClr val="028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01-B04D-B43A-84ECD69FE2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Cost vs Arena ELO</c:v>
                </c:pt>
                <c:pt idx="1">
                  <c:v>Cost vs MMLU Score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6.6000000000000003E-2</c:v>
                </c:pt>
                <c:pt idx="1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01-B04D-B43A-84ECD69FE2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53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acknowledging the audience already knows LLM benchmarks. Hook: every model launch leads with a headline like 88% on MMLU — and everyone just accepts it. Today we challenge that assumption with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fundamental tension: we have two independent quality signals. MMLU can be trained on. Arena ELO cannot — real humans are picking the winner. When they diverge, the question is: which one is wrong? Always the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live sources failed: HuggingFace Leaderboard timed out repeatedly, LMSYS Arena Space threw runtime errors, Arena ELO GitHub lacked historical depth. Only the Kaggle dataset + Arena AI GitHub snapshots held up. H3 pivot: parameters_b was 71% null in frontier — switched to output cost which was fully populated.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hypothesis. Stress that these are not guesses — each stat was computed in Python before a single chart was drawn. H3 originally targeted model parameters but pivoted to cost because parameters_b was 71% null in frontier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Three-chart progression. Each iteration revealed something the previous couldn't show. The beeswarm was the breakthrough — you can see frontier dots clustering near 100% while community dots still scatter widely. Std dev collapse from 19 to 0.9 in three years is statistically dramatic.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dual-trend scatter was the visual breakthrough. When you color the top-20 ELO models red, their trend line is nearly flat versus the steeper line for all models. The slope chart then makes it personal — you can read GPT-4o or Gemini by name and see the inversion.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from model parameters to API cost was the right call — parameters_b was 71% null in frontier. Cost is actually MORE interesting because practitioners choose models partly on cost. The cost bar chart showing 100x price variation among near-equivalent ELO models is the most actionable slide in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'Let's actually open the live site and demo the key interactions.' Point to the beeswarm first — most visually striking. Then the slope chart. Then cost bar. Scroll-spy nav and canvas animations show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Usability testing gates the final submission. 12 subjects minimum. 3 per team member. Mix technical and non-technical to test both depth and accessibility. The four tasks map directly to the three hypotheses plus an overall comprehension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variance collapse finding wasn't in the original hypothesis — it emerged from the data. Tool choice rationale: graders care about this. D3 for the hard stuff (force sim, slope chart), Chart.js for the quick aggregated views. Single-file portable approach is intentional — no build step, runs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'We will now demo the live Vercel prototype, then briefly walk through the Observable notebook. Happy to answer questions on data sourcing, chart design choices, or the D3 implementation.' Note: update the Vercel URL and team email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97336" y="708675"/>
            <a:ext cx="6701116" cy="361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>
                    <a:alpha val="7000"/>
                  </a:srgbClr>
                </a:solidFill>
              </a:rPr>
              <a:t>BENCHMARK</a:t>
            </a:r>
            <a:endParaRPr lang="en-US" sz="9000" dirty="0"/>
          </a:p>
          <a:p>
            <a:pPr marL="0" indent="0" algn="r">
              <a:buNone/>
            </a:pPr>
            <a:r>
              <a:rPr lang="en-US" sz="9000" b="1" dirty="0">
                <a:solidFill>
                  <a:srgbClr val="FFFFFF">
                    <a:alpha val="7000"/>
                  </a:srgbClr>
                </a:solidFill>
              </a:rPr>
              <a:t>BROKEN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Benchmarks Are Broken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DB515"/>
                </a:solidFill>
              </a:rPr>
              <a:t>Visualizing the Gap Between AI Scores and Real-World Performance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5029200" cy="0"/>
          </a:xfrm>
          <a:prstGeom prst="line">
            <a:avLst/>
          </a:prstGeom>
          <a:noFill/>
          <a:ln w="15240">
            <a:solidFill>
              <a:srgbClr val="FDB51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Pallavi Geddam  ·  Gunhui Kim  ·  Mehek Bhargava  ·  Sahana Venkatesh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UC Berkeley MIDS  |  W209 Data Visualization  |  Group 03 · Section 04  |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THE CORE 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measures of quality. They should agree.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DB515"/>
                </a:solidFill>
              </a:rPr>
              <a:t>Benchmark Scores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Fixed tests like MMLU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Models can be optimized toward these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Score is a number, not a verdict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515"/>
                </a:solidFill>
              </a:rPr>
              <a:t>VS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0" y="128016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A2E5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463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Arena ELO (Ground Truth)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212080" y="20116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Real humans, blind voting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Cannot be gamed - no answer key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Measures what people actually prefer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7A1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8640" y="38404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When the two measures disagree - the benchmark is what is broken.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DATA FOUNDATION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 Models. Three tiers. One reliable source.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00326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DB515"/>
                </a:solidFill>
              </a:rPr>
              <a:t>80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Commercial flagships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With both ELO &amp; cost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Core analysis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1D5C7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DB515"/>
                </a:solidFill>
              </a:rPr>
              <a:t>106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Academic &amp; open-source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No ELO or cost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Benchmark coverage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2D6A4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DB515"/>
                </a:solidFill>
              </a:rPr>
              <a:t>100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350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HuggingFace fine-tunes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Derivative 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</a:rPr>
              <a:t>Broad distribution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6868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262"/>
                </a:solidFill>
              </a:rPr>
              <a:t>5-Step Preprocessing (Python · Pandas · Colab)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913632"/>
            <a:ext cx="164592" cy="164592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13232" y="38770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Loaded all 3 raw files - inspected schemas, null counts, date coverage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164592" cy="164592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3232" y="40782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Verified all 3 hypotheses were numerically testable before building charts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315968"/>
            <a:ext cx="164592" cy="164592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13232" y="42793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Merged into unified table with category column (frontier / research / community)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517136"/>
            <a:ext cx="164592" cy="164592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" y="44805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Derived: MMLU rank, ELO rank, rank_gap, cost ratios, release year/quarter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4718304"/>
            <a:ext cx="164592" cy="164592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13232" y="46817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Wrote 3 output files: llm_unified.csv · llm_long.csv · mmlu_saturation_by_year.csv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309360" y="3429000"/>
            <a:ext cx="2468880" cy="1417320"/>
          </a:xfrm>
          <a:prstGeom prst="roundRect">
            <a:avLst>
              <a:gd name="adj" fmla="val 6452"/>
            </a:avLst>
          </a:prstGeom>
          <a:solidFill>
            <a:srgbClr val="003262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30936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DB515"/>
                </a:solidFill>
              </a:rPr>
              <a:t>56</a:t>
            </a:r>
            <a:endParaRPr lang="en-US" sz="4800" dirty="0"/>
          </a:p>
        </p:txBody>
      </p:sp>
      <p:sp>
        <p:nvSpPr>
          <p:cNvPr id="32" name="Text 29"/>
          <p:cNvSpPr/>
          <p:nvPr/>
        </p:nvSpPr>
        <p:spPr>
          <a:xfrm>
            <a:off x="6309360" y="41605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Frontier models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both MMLU + Arena 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(H2 &amp; H3 analysis core)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THREE HYPOTHESES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</a:rPr>
              <a:t>Each signal verified numerically before building a single chart.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1097280"/>
          </a:xfrm>
          <a:prstGeom prst="roundRect">
            <a:avLst>
              <a:gd name="adj" fmla="val 7500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88720" y="126187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8720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H1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12435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Benchmark Saturation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1243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DB515"/>
                </a:solidFill>
              </a:rPr>
              <a:t>σ 19.0 → 0.9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16459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MMLU std dev collapsed from 19.0 in 2023 to 0.9 in 2026. Models are converging at the 100% ceiling and losing ability to differentiate quality.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423160"/>
            <a:ext cx="8412480" cy="1097280"/>
          </a:xfrm>
          <a:prstGeom prst="roundRect">
            <a:avLst>
              <a:gd name="adj" fmla="val 7500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14600"/>
            <a:ext cx="502920" cy="502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188720" y="249631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188720" y="24963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H2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783080" y="2478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Frontier Gap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943600" y="2478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EA5E9"/>
                </a:solidFill>
              </a:rPr>
              <a:t>r 0.841 → 0.666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188720" y="2880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MMLU-to-ELO correlation drops from 0.841 overall to 0.666 among top-20 ELO models. The relationship flattens exactly where it matters most.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5760" y="3657600"/>
            <a:ext cx="8412480" cy="1097280"/>
          </a:xfrm>
          <a:prstGeom prst="roundRect">
            <a:avLst>
              <a:gd name="adj" fmla="val 7500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502920" cy="5029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88720" y="373075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188720" y="37307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H3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783080" y="3712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Disconnect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943600" y="3712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B981"/>
                </a:solidFill>
              </a:rPr>
              <a:t>r = 0.066 (ELO)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188720" y="4114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Cost correlates with MMLU at 0.31 but with Arena ELO at only 0.066. Pricier models benchmark higher - but not perform better for real users.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H1 · SATURATION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Iteration: Line → Banded Line → Beeswarm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43000"/>
          <a:ext cx="47548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14300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13248" y="121615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13248" y="12161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B515"/>
                </a:solidFill>
              </a:rPr>
              <a:t>V1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88736" y="1207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</a:rPr>
              <a:t>Simple Line Chart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13248" y="1508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6B3C"/>
                </a:solidFill>
              </a:rPr>
              <a:t>+ Trend immediately visible - 33% to 93% in 6 years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13248" y="1755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</a:rPr>
              <a:t>Δ Hides spread; single line can't show if all models improved or just top ones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0" y="21488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13248" y="222199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13248" y="22219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B515"/>
                </a:solidFill>
              </a:rPr>
              <a:t>V2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88736" y="22128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</a:rPr>
              <a:t>Banded Line (±1σ)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13248" y="2514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6B3C"/>
                </a:solidFill>
              </a:rPr>
              <a:t>+ σ peak at 19.0 in 2023, collapse to 0.9 in 2026 is instantly readable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13248" y="2761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</a:rPr>
              <a:t>Δ Still aggregated by year; hides individual models and frontier vs community split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03520" y="3154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13248" y="322783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13248" y="32278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B515"/>
                </a:solidFill>
              </a:rPr>
              <a:t>V3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88736" y="3218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</a:rPr>
              <a:t>Beeswarm (Final)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13248" y="3520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6B3C"/>
                </a:solidFill>
              </a:rPr>
              <a:t>+ Every dot is one model - category colored. Saturation convergence undeniable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13248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</a:rPr>
              <a:t>Δ Dense; added frontier-only toggle in prototype to isolate the key story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DB515"/>
                </a:solidFill>
              </a:rPr>
              <a:t>Confirmed: σ 19.0 → 0.9 (2023 to 2026). Models converging at ceiling. MMLU can no longer differentiate elite models.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H2 · FRONTIER GAP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Iteration: Scatter → Dual-Trend → Slope Chart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DB515"/>
                </a:solidFill>
              </a:rPr>
              <a:t>r = 0.841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Overall MMLU-to-ELO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correlation (56 models)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DB515"/>
                </a:solidFill>
              </a:rPr>
              <a:t>r = 0.666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Top-20 ELO models only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(flattens at frontier)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DB515"/>
                </a:solidFill>
              </a:rPr>
              <a:t>0.175Δ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Correlation drop 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the frontier tier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263347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B515"/>
                </a:solidFill>
              </a:rPr>
              <a:t>V1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624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</a:rPr>
              <a:t>Basic Scatter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29443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6B3C"/>
                </a:solidFill>
              </a:rPr>
              <a:t>+ Positive but noisy correlation visible (r=0.841). Outliers apparent.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566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</a:rPr>
              <a:t>Δ Treats all frontier models equally - masks weaker top-tier relationship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5146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10128" y="263347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26334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B515"/>
                </a:solidFill>
              </a:rPr>
              <a:t>V2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94760" y="2624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</a:rPr>
              <a:t>Dual-Trend Scatter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29443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6B3C"/>
                </a:solidFill>
              </a:rPr>
              <a:t>+ Top-20 ELO in red. Two trend lines tell entirely different stories.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0128" y="3566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</a:rPr>
              <a:t>Δ No individual model identity. Can't name the worst offenders by name.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25146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44768" y="263347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44768" y="26334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B515"/>
                </a:solidFill>
              </a:rPr>
              <a:t>V3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2624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262"/>
                </a:solidFill>
              </a:rPr>
              <a:t>Slope Chart (Final)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29443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6B3C"/>
                </a:solidFill>
              </a:rPr>
              <a:t>+ Rank inversions visible by name. Plasma gradient scales to gap magnitude.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3566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513"/>
                </a:solidFill>
              </a:rPr>
              <a:t>Δ Dense with 56 lines; added rank-gap threshold toggle in prototype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40740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4074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DB515"/>
                </a:solidFill>
              </a:rPr>
              <a:t>Confirmed: Top-ELO models cluster at 85–95% MMLU - not 100%. More score does not buy more human preference at the frontier.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H3 · COST DISCONNECT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Iteration: Log Scatter → Two-Panel → Cost Bar Chart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DB515"/>
                </a:solidFill>
              </a:rPr>
              <a:t>r = 0.066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Cost vs Arena 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(essentially flat)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DB515"/>
                </a:solidFill>
              </a:rPr>
              <a:t>r = 0.31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Cost vs MMLU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(weak but rising)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DB515"/>
                </a:solidFill>
              </a:rPr>
              <a:t>100x+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Price spread among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near-equal ELO models</a:t>
            </a:r>
            <a:endParaRPr lang="en-US" sz="10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365760" y="2395728"/>
          <a:ext cx="38404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480560" y="2395728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90288" y="245059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90288" y="24505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DB515"/>
                </a:solidFill>
              </a:rPr>
              <a:t>V1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74920" y="2441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262"/>
                </a:solidFill>
              </a:rPr>
              <a:t>Log Scatter: Cost vs ELO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90288" y="26974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6B3C"/>
                </a:solidFill>
              </a:rPr>
              <a:t>+ Flat r=0.066 trend line makes the disconnect strikingly clear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90288" y="28254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4513"/>
                </a:solidFill>
              </a:rPr>
              <a:t>Δ Only shows cost vs ELO - can't compare to MMLU tracking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480560" y="3054096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90288" y="310896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90288" y="31089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DB515"/>
                </a:solidFill>
              </a:rPr>
              <a:t>V2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4920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262"/>
                </a:solidFill>
              </a:rPr>
              <a:t>Two-Panel Scatter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90288" y="33558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6B3C"/>
                </a:solidFill>
              </a:rPr>
              <a:t>+ Side-by-side: left flat (ELO), right rising (MMLU). Contrast is instant.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590288" y="34838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4513"/>
                </a:solidFill>
              </a:rPr>
              <a:t>Δ Doesn't identify best-value models. No actionable output.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480560" y="3712464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90288" y="376732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90288" y="37673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DB515"/>
                </a:solidFill>
              </a:rPr>
              <a:t>V3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7492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262"/>
                </a:solidFill>
              </a:rPr>
              <a:t>Cost Bar Chart (Final)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90288" y="40142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6B3C"/>
                </a:solidFill>
              </a:rPr>
              <a:t>+ Near-equal ELO quality, 100x+ price variation fully exposed.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90288" y="4142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4513"/>
                </a:solidFill>
              </a:rPr>
              <a:t>Δ 25 ELO band is arbitrary - slider toggle added in prototype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65760" y="440740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7200" y="44074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DB515"/>
                </a:solidFill>
              </a:rPr>
              <a:t>Confirmed: Cost is a business decision, not a quality signal. Among near-equal ELO models, prices vary by 100x+.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PROTOTYPE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- Single-file D3 + Chart.js App on Vercel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3444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7099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DB515"/>
                </a:solidFill>
              </a:rPr>
              <a:t>9 Charts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D3 + Chart.js native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No Observable embeds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1460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17099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DB515"/>
                </a:solidFill>
              </a:rPr>
              <a:t>Single File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606040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All data, code &amp; CSS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 one index.html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6344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23444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17099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DB515"/>
                </a:solidFill>
              </a:rPr>
              <a:t>Vercel Deploy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54880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Live URL via GitHub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No build step needed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812280" y="11430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234440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17099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DB515"/>
                </a:solidFill>
              </a:rPr>
              <a:t>Interactions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903720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Hover tooltips, scroll-spy nav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Force-sim beeswarm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B515"/>
                </a:solidFill>
              </a:rPr>
              <a:t>Prototype Interactions Demonstrated Live: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57200" y="3419856"/>
            <a:ext cx="146304" cy="146304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85800" y="3337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</a:rPr>
              <a:t>H1 </a:t>
            </a:r>
            <a:r>
              <a:rPr lang="en-US" sz="1000" b="1" dirty="0" err="1">
                <a:solidFill>
                  <a:srgbClr val="FDB515"/>
                </a:solidFill>
              </a:rPr>
              <a:t>Beeswarm</a:t>
            </a:r>
            <a:r>
              <a:rPr lang="en-US" sz="1000" b="1" dirty="0">
                <a:solidFill>
                  <a:srgbClr val="FDB515"/>
                </a:solidFill>
              </a:rPr>
              <a:t>  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2011680" y="333756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Force-simulation layout · category color-coding · hover tooltips with model name, provider, year, score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3767328"/>
            <a:ext cx="146304" cy="146304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85800" y="3685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</a:rPr>
              <a:t>H2 Slope Chart  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011680" y="368503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Plasma gradient scaled to rank gap · model name labels both ends · hover shows MMLU rank, ELO rank, gap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4114800"/>
            <a:ext cx="146304" cy="146304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85800" y="4032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</a:rPr>
              <a:t>H2 Dual Scatter  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011680" y="403250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Top-20 ELO highlighted red · two trend lines with live correlation annotations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4462272"/>
            <a:ext cx="146304" cy="146304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85800" y="43799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</a:rPr>
              <a:t>H3 Cost Bar  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011680" y="43799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Models within 25 ELO of top · YlOrRd gradient · hover shows cost, ELO, MMLU, provider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4809744"/>
            <a:ext cx="146304" cy="146304"/>
          </a:xfrm>
          <a:prstGeom prst="line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85800" y="47274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</a:rPr>
              <a:t>Navigation  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2011680" y="472744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Scroll-spy IntersectionObserver · gold active-state highlights · hero canvas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USABILITY TESTING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2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Validate Design Decisions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DB515"/>
                </a:solidFill>
              </a:rPr>
              <a:t>12+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Test subjects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(3 per team member)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143000"/>
            <a:ext cx="59436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2070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262"/>
                </a:solidFill>
              </a:rPr>
              <a:t>Method: Think-Aloud + Task-Based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572768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Subjects: MIDS peers, ML practitioners, non-technical friends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Format: 10-min session - observe live, record think-aloud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Output: MoSCoW-prioritized findings list for iteration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496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262"/>
                </a:solidFill>
              </a:rPr>
              <a:t>Scripted Test Tasks: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B515"/>
                </a:solidFill>
              </a:rPr>
              <a:t>T1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2889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262"/>
                </a:solidFill>
              </a:rPr>
              <a:t>Navigate to H1   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77440" y="28895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Find the chart that shows how MMLU scores changed over time. What trend do you see?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19272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319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B515"/>
                </a:solidFill>
              </a:rPr>
              <a:t>T2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262"/>
                </a:solidFill>
              </a:rPr>
              <a:t>Interpret H2   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77440" y="33284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Which models rank high on MMLU but low in real-world preference? Name two.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7581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B515"/>
                </a:solidFill>
              </a:rPr>
              <a:t>T3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3767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262"/>
                </a:solidFill>
              </a:rPr>
              <a:t>Use H3   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3767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Find the best-value model - highest ELO for lowest cost. How confident are you?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97096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0032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1970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B515"/>
                </a:solidFill>
              </a:rPr>
              <a:t>T4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262"/>
                </a:solidFill>
              </a:rPr>
              <a:t>Overall   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774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 one sentence, what is the main takeaway of this visualization?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36008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6360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Findings will be MoSCoW-prioritized: Must-Fix → Should-Fix → Could-Fix → Won't-Fix. Integrated into final build and written report.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55448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262"/>
                </a:solidFill>
              </a:rPr>
              <a:t>FINDINGS +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Unexpected Discovery &amp; Remaining Milestones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3D100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618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2618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B515"/>
                </a:solidFill>
              </a:rPr>
              <a:t>Unexpected Finding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719072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Variance collapse after 2023 was more extreme than anticipated. σ peaked at 19.0 (2023, n=92 models) then crashed to 0.9 (2026, n=3 models) — an order of magnitude in three years. Top-ELO models cluster at 85–95% MMLU, not 100%. MMLU has already lost its ability to differentiate elite models. A new benchmark is needed.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94960" y="11430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94960" y="1207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B515"/>
                </a:solidFill>
              </a:rPr>
              <a:t>Remaining Milestones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16276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1.  Usability study (12 subjects) + MoSCoW findings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0" y="18745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2.  Integrate usability findings into live site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86400" y="21214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3.  2–3 min YouTube video demo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0" y="23682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4.  Final bCourses report + Vercel URL submission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0" y="26151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5.  15-min final in-class demonstration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3127248"/>
            <a:ext cx="8412480" cy="1508760"/>
          </a:xfrm>
          <a:prstGeom prst="roundRect">
            <a:avLst>
              <a:gd name="adj" fmla="val 6061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B515"/>
                </a:solidFill>
              </a:rPr>
              <a:t>Tool Rationale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D3.js  -  Force simulation for beeswarm, slope chart inversions, and custom scatter control — not possible in Observable or Tableau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2920" y="4087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94A3B8"/>
                </a:solidFill>
              </a:rPr>
              <a:t>Chart.js</a:t>
            </a:r>
            <a:r>
              <a:rPr lang="en-US" sz="950" dirty="0">
                <a:solidFill>
                  <a:srgbClr val="94A3B8"/>
                </a:solidFill>
              </a:rPr>
              <a:t>  -  Lightweight for line and bar charts; faster render than full D3 for aggregated views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0916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Single-file HTML  -  Portable - no build step, no dependencies, instant Vercel deploy, teammates can open in browser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087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Vercel + GitHub  -  Live URL for usability testing, peer review, and portfolio use after course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0" y="18288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FFFFFF">
                    <a:alpha val="6000"/>
                  </a:srgbClr>
                </a:solidFill>
              </a:rPr>
              <a:t>THANK</a:t>
            </a:r>
            <a:endParaRPr lang="en-US" sz="10000" dirty="0"/>
          </a:p>
          <a:p>
            <a:pPr marL="0" indent="0" algn="r">
              <a:buNone/>
            </a:pPr>
            <a:r>
              <a:rPr lang="en-US" sz="10000" b="1" dirty="0">
                <a:solidFill>
                  <a:srgbClr val="FFFFFF">
                    <a:alpha val="6000"/>
                  </a:srgbClr>
                </a:solidFill>
              </a:rPr>
              <a:t>YOU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FDB5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325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Benchmarks Are Broken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20040" y="18105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DB515"/>
                </a:solidFill>
              </a:rPr>
              <a:t>Three findings. Nine charts. One takeaway: the score is not the model.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2267712"/>
            <a:ext cx="4572000" cy="0"/>
          </a:xfrm>
          <a:prstGeom prst="line">
            <a:avLst/>
          </a:prstGeom>
          <a:noFill/>
          <a:ln w="12700">
            <a:solidFill>
              <a:srgbClr val="FDB51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Group 03 · Section 04 · Spring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Pallavi Geddam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632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Gunhui Kim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136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Mehek Bhargava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63240" y="3136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Sahana Venkatesh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3657600"/>
            <a:ext cx="8412480" cy="1207008"/>
          </a:xfrm>
          <a:prstGeom prst="roundRect">
            <a:avLst>
              <a:gd name="adj" fmla="val 7576"/>
            </a:avLst>
          </a:prstGeom>
          <a:solidFill>
            <a:srgbClr val="0A224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3749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B515"/>
                </a:solidFill>
              </a:rPr>
              <a:t>We welcome your feedback!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Live site (Vercel):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94560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EA5E9"/>
                </a:solidFill>
              </a:rPr>
              <a:t>[https://</a:t>
            </a:r>
            <a:r>
              <a:rPr lang="en-US" sz="1100" dirty="0" err="1">
                <a:solidFill>
                  <a:srgbClr val="0EA5E9"/>
                </a:solidFill>
              </a:rPr>
              <a:t>llm</a:t>
            </a:r>
            <a:r>
              <a:rPr lang="en-US" sz="1100" dirty="0">
                <a:solidFill>
                  <a:srgbClr val="0EA5E9"/>
                </a:solidFill>
              </a:rPr>
              <a:t>-benchmarks-are-</a:t>
            </a:r>
            <a:r>
              <a:rPr lang="en-US" sz="1100" dirty="0" err="1">
                <a:solidFill>
                  <a:srgbClr val="0EA5E9"/>
                </a:solidFill>
              </a:rPr>
              <a:t>broken.vercel.app</a:t>
            </a:r>
            <a:r>
              <a:rPr lang="en-US" sz="1100" dirty="0">
                <a:solidFill>
                  <a:srgbClr val="0EA5E9"/>
                </a:solidFill>
              </a:rPr>
              <a:t>/]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425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GitHub Repo: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194560" y="44256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EA5E9"/>
                </a:solidFill>
              </a:rPr>
              <a:t>[</a:t>
            </a:r>
            <a:r>
              <a:rPr lang="en-US" sz="1100" dirty="0" err="1">
                <a:solidFill>
                  <a:srgbClr val="0EA5E9"/>
                </a:solidFill>
              </a:rPr>
              <a:t>github.com</a:t>
            </a:r>
            <a:r>
              <a:rPr lang="en-US" sz="1100" dirty="0">
                <a:solidFill>
                  <a:srgbClr val="0EA5E9"/>
                </a:solidFill>
              </a:rPr>
              <a:t>/</a:t>
            </a:r>
            <a:r>
              <a:rPr lang="en-US" sz="1100" dirty="0" err="1">
                <a:solidFill>
                  <a:srgbClr val="0EA5E9"/>
                </a:solidFill>
              </a:rPr>
              <a:t>pallavigeddam</a:t>
            </a:r>
            <a:r>
              <a:rPr lang="en-US" sz="1100" dirty="0">
                <a:solidFill>
                  <a:srgbClr val="0EA5E9"/>
                </a:solidFill>
              </a:rPr>
              <a:t>/llm-benchmarks-w209]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Observable notebook: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45936" y="41239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0EA5E9"/>
                </a:solidFill>
              </a:rPr>
              <a:t>[</a:t>
            </a:r>
            <a:r>
              <a:rPr lang="en-US" sz="900" dirty="0" err="1">
                <a:solidFill>
                  <a:srgbClr val="0EA5E9"/>
                </a:solidFill>
              </a:rPr>
              <a:t>observablehq.com</a:t>
            </a:r>
            <a:r>
              <a:rPr lang="en-US" sz="900" dirty="0">
                <a:solidFill>
                  <a:srgbClr val="0EA5E9"/>
                </a:solidFill>
              </a:rPr>
              <a:t>/d/f52de3b8ff1fb482]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1983</Words>
  <Application>Microsoft Macintosh PowerPoint</Application>
  <PresentationFormat>On-screen Show (16:9)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Benchmarks Are Broken</dc:title>
  <dc:subject>PptxGenJS Presentation</dc:subject>
  <dc:creator>Pallavi Geddam, Gunhui Kim, Mehek Bhargava, Sahana Venkatesh</dc:creator>
  <cp:lastModifiedBy>Pallavi Geddam</cp:lastModifiedBy>
  <cp:revision>2</cp:revision>
  <dcterms:created xsi:type="dcterms:W3CDTF">2026-06-25T19:12:38Z</dcterms:created>
  <dcterms:modified xsi:type="dcterms:W3CDTF">2026-06-25T19:21:43Z</dcterms:modified>
</cp:coreProperties>
</file>